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7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4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821B08B-D2B1-4FFB-A9E4-041915B0054A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3FE96A1-CB6A-4505-BCBF-EB23DC3D73EE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314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B08B-D2B1-4FFB-A9E4-041915B0054A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96A1-CB6A-4505-BCBF-EB23DC3D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882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B08B-D2B1-4FFB-A9E4-041915B0054A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96A1-CB6A-4505-BCBF-EB23DC3D73EE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591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B08B-D2B1-4FFB-A9E4-041915B0054A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96A1-CB6A-4505-BCBF-EB23DC3D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12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B08B-D2B1-4FFB-A9E4-041915B0054A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96A1-CB6A-4505-BCBF-EB23DC3D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519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B08B-D2B1-4FFB-A9E4-041915B0054A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96A1-CB6A-4505-BCBF-EB23DC3D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525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B08B-D2B1-4FFB-A9E4-041915B0054A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96A1-CB6A-4505-BCBF-EB23DC3D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880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B08B-D2B1-4FFB-A9E4-041915B0054A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96A1-CB6A-4505-BCBF-EB23DC3D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103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B08B-D2B1-4FFB-A9E4-041915B0054A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96A1-CB6A-4505-BCBF-EB23DC3D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73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B08B-D2B1-4FFB-A9E4-041915B0054A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96A1-CB6A-4505-BCBF-EB23DC3D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439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B08B-D2B1-4FFB-A9E4-041915B0054A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96A1-CB6A-4505-BCBF-EB23DC3D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069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D821B08B-D2B1-4FFB-A9E4-041915B0054A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93FE96A1-CB6A-4505-BCBF-EB23DC3D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575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uprithshashidhara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7933C-8B4B-BB87-D2B9-A28976BE6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1590" y="1747520"/>
            <a:ext cx="9608820" cy="862056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Bahnschrift Condensed" panose="020B0502040204020203" pitchFamily="34" charset="0"/>
              </a:rPr>
              <a:t>Optimizing Delivery Efficiency &amp; Reducing Customer Churn</a:t>
            </a:r>
            <a:endParaRPr lang="en-IN" sz="3200" dirty="0">
              <a:latin typeface="Bahnschrift Condensed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00D307-C345-0B35-AE00-5AD2A8CB0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2773817"/>
            <a:ext cx="6801612" cy="492172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The Data Decode Challenge 2026 by IISc(BLR)</a:t>
            </a:r>
          </a:p>
          <a:p>
            <a:endParaRPr lang="en-IN" dirty="0">
              <a:latin typeface="Bahnschrift Light Condensed" panose="020B0502040204020203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C7374CF-E094-A541-CACD-261D0AB0E227}"/>
              </a:ext>
            </a:extLst>
          </p:cNvPr>
          <p:cNvSpPr txBox="1">
            <a:spLocks/>
          </p:cNvSpPr>
          <p:nvPr/>
        </p:nvSpPr>
        <p:spPr>
          <a:xfrm>
            <a:off x="2695194" y="4089454"/>
            <a:ext cx="6801612" cy="49217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Analysis by – Suprith S ( </a:t>
            </a:r>
            <a:r>
              <a:rPr lang="en-IN" dirty="0">
                <a:solidFill>
                  <a:srgbClr val="92D050"/>
                </a:solidFill>
                <a:latin typeface="Bahnschrift Light Condensed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suprithshashidhara@gmail.com</a:t>
            </a:r>
            <a:r>
              <a:rPr lang="en-IN" dirty="0">
                <a:solidFill>
                  <a:srgbClr val="92D050"/>
                </a:solidFill>
                <a:latin typeface="Bahnschrift Light Condensed" panose="020B0502040204020203" pitchFamily="34" charset="0"/>
              </a:rPr>
              <a:t> </a:t>
            </a:r>
            <a:r>
              <a:rPr lang="en-IN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)</a:t>
            </a:r>
          </a:p>
          <a:p>
            <a:endParaRPr lang="en-IN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936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CE6C-81BE-A60B-B69D-A75C68250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464099"/>
            <a:ext cx="9372600" cy="736092"/>
          </a:xfrm>
        </p:spPr>
        <p:txBody>
          <a:bodyPr>
            <a:noAutofit/>
          </a:bodyPr>
          <a:lstStyle/>
          <a:p>
            <a:r>
              <a:rPr lang="en-IN" dirty="0">
                <a:latin typeface="Bahnschrift Condensed" panose="020B0502040204020203" pitchFamily="34" charset="0"/>
              </a:rPr>
              <a:t>Executive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0F2178-0A60-AB1D-C0D7-6EED6F3264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1297159"/>
            <a:ext cx="9372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Only 16% deliveries are on time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Most deliveries are getting delayed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Main reasons: weather, long distance, and wrong vehicle use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Delays are reducing customer ratings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Fixing delays can improve customer satisfaction and cost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7B31307-3695-FF1D-A5E6-40A65359B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700" y="4357942"/>
            <a:ext cx="9372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lang="en-US" altLang="en-US" sz="24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D</a:t>
            </a:r>
            <a:r>
              <a:rPr lang="en-IN" sz="2400" dirty="0">
                <a:latin typeface="Bahnschrift Light Condensed" panose="020B0502040204020203" pitchFamily="34" charset="0"/>
              </a:rPr>
              <a:t>eliveries are getting delayed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lang="en-IN" sz="2400" dirty="0">
                <a:latin typeface="Bahnschrift Light Condensed" panose="020B0502040204020203" pitchFamily="34" charset="0"/>
              </a:rPr>
              <a:t>Customers are not satisfied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lang="en-IN" sz="24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Costs are increasing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lang="en-IN" sz="24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N</a:t>
            </a:r>
            <a:r>
              <a:rPr lang="en-US" sz="2400" dirty="0" err="1">
                <a:solidFill>
                  <a:schemeClr val="tx1"/>
                </a:solidFill>
                <a:latin typeface="Bahnschrift Light Condensed" panose="020B0502040204020203" pitchFamily="34" charset="0"/>
              </a:rPr>
              <a:t>eed</a:t>
            </a:r>
            <a:r>
              <a:rPr lang="en-US" sz="2400" dirty="0">
                <a:latin typeface="Bahnschrift Light Condensed" panose="020B0502040204020203" pitchFamily="34" charset="0"/>
              </a:rPr>
              <a:t> to find why this is happening and fix it</a:t>
            </a:r>
            <a:endParaRPr lang="en-US" sz="2400" dirty="0">
              <a:solidFill>
                <a:schemeClr val="tx1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4C8E864-3592-7FCE-DAA8-DC7BE0C8B2A2}"/>
              </a:ext>
            </a:extLst>
          </p:cNvPr>
          <p:cNvSpPr txBox="1">
            <a:spLocks/>
          </p:cNvSpPr>
          <p:nvPr/>
        </p:nvSpPr>
        <p:spPr>
          <a:xfrm>
            <a:off x="1409700" y="3621850"/>
            <a:ext cx="9372600" cy="736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latin typeface="Bahnschrift Condensed" panose="020B0502040204020203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171766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F1058-8228-C97E-335C-F333BDD56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18CC-BB75-EC04-F640-445FA4A4B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785386"/>
            <a:ext cx="9372600" cy="736092"/>
          </a:xfrm>
        </p:spPr>
        <p:txBody>
          <a:bodyPr>
            <a:noAutofit/>
          </a:bodyPr>
          <a:lstStyle/>
          <a:p>
            <a:r>
              <a:rPr lang="en-IN" dirty="0">
                <a:latin typeface="Bahnschrift Condensed" panose="020B0502040204020203" pitchFamily="34" charset="0"/>
              </a:rPr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82ACF6-D697-149A-0B8C-5B41FA95D6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1999340"/>
            <a:ext cx="9372600" cy="241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lang="en-US" sz="24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Cleaned the data (fixed missing and wrong values)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lang="en-IN" sz="24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Created new columns:</a:t>
            </a:r>
            <a:br>
              <a:rPr lang="en-US" sz="2400" dirty="0">
                <a:solidFill>
                  <a:schemeClr val="tx1"/>
                </a:solidFill>
                <a:latin typeface="Bahnschrift Light Condensed" panose="020B0502040204020203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Delivery Delay</a:t>
            </a:r>
            <a:br>
              <a:rPr lang="en-US" sz="2400" dirty="0">
                <a:solidFill>
                  <a:schemeClr val="tx1"/>
                </a:solidFill>
                <a:latin typeface="Bahnschrift Light Condensed" panose="020B0502040204020203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cost per km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lang="en-US" sz="24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Analyzed patterns in the data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lang="en-US" sz="24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Found reasons for delay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</a:pPr>
            <a:r>
              <a:rPr lang="en-US" sz="24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Tools used: Power BI &amp; MS Excel</a:t>
            </a:r>
          </a:p>
        </p:txBody>
      </p:sp>
    </p:spTree>
    <p:extLst>
      <p:ext uri="{BB962C8B-B14F-4D97-AF65-F5344CB8AC3E}">
        <p14:creationId xmlns:p14="http://schemas.microsoft.com/office/powerpoint/2010/main" val="3484167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E0218-E728-3237-D4CF-B6547B346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4738-2E31-E240-9A62-5BDF64F88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704664"/>
            <a:ext cx="9372600" cy="736092"/>
          </a:xfrm>
        </p:spPr>
        <p:txBody>
          <a:bodyPr>
            <a:noAutofit/>
          </a:bodyPr>
          <a:lstStyle/>
          <a:p>
            <a:r>
              <a:rPr lang="en-IN" dirty="0">
                <a:latin typeface="Bahnschrift Condensed" panose="020B0502040204020203" pitchFamily="34" charset="0"/>
              </a:rPr>
              <a:t>Delivery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CCA1B3-62CD-3DDF-9290-3253A4171B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55" t="22817" r="64991" b="31740"/>
          <a:stretch>
            <a:fillRect/>
          </a:stretch>
        </p:blipFill>
        <p:spPr bwMode="auto">
          <a:xfrm>
            <a:off x="1620774" y="1998498"/>
            <a:ext cx="2257044" cy="4164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7857ACA-3047-A55C-AE86-05436ED66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774" y="1536833"/>
            <a:ext cx="89504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sz="24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Majority of the orders are delayed even when the whether and traffic is clear.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CF286F-FFB6-0E6A-6EF9-62FEEA1B1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84" t="28666" r="43227" b="28133"/>
          <a:stretch>
            <a:fillRect/>
          </a:stretch>
        </p:blipFill>
        <p:spPr>
          <a:xfrm>
            <a:off x="4124452" y="1998498"/>
            <a:ext cx="5486400" cy="415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513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6E7526-986D-8AD2-7432-6C1E22F41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23123" r="34375" b="23816"/>
          <a:stretch>
            <a:fillRect/>
          </a:stretch>
        </p:blipFill>
        <p:spPr>
          <a:xfrm>
            <a:off x="1409700" y="1220723"/>
            <a:ext cx="9339072" cy="479552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E54E7-9F24-AAC8-9EAA-9E204B77B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1224" y="3773239"/>
            <a:ext cx="4372356" cy="2600130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Actual delivery time is consistently higher than estimated time</a:t>
            </a:r>
          </a:p>
          <a:p>
            <a:pPr>
              <a:buClr>
                <a:schemeClr val="tx1"/>
              </a:buClr>
            </a:pPr>
            <a:r>
              <a:rPr lang="en-IN" sz="24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Indicates inaccurate prediction system</a:t>
            </a: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  <a:highlight>
                  <a:srgbClr val="C0C0C0"/>
                </a:highlight>
                <a:latin typeface="Bahnschrift Light Condensed" panose="020B0502040204020203" pitchFamily="34" charset="0"/>
              </a:rPr>
              <a:t>The company is over-promising and under-delivering</a:t>
            </a:r>
            <a:endParaRPr lang="en-IN" sz="2400" dirty="0">
              <a:solidFill>
                <a:schemeClr val="tx1"/>
              </a:solidFill>
              <a:highlight>
                <a:srgbClr val="C0C0C0"/>
              </a:highlight>
              <a:latin typeface="Bahnschrift Light Condensed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0E77D44-A19F-6E44-7C1A-19A57AE5B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936" y="484631"/>
            <a:ext cx="9372600" cy="736092"/>
          </a:xfrm>
        </p:spPr>
        <p:txBody>
          <a:bodyPr>
            <a:noAutofit/>
          </a:bodyPr>
          <a:lstStyle/>
          <a:p>
            <a:r>
              <a:rPr lang="en-IN" dirty="0">
                <a:latin typeface="Bahnschrift Condensed" panose="020B0502040204020203" pitchFamily="34" charset="0"/>
              </a:rPr>
              <a:t>ETA Accuracy Analysis</a:t>
            </a:r>
          </a:p>
        </p:txBody>
      </p:sp>
    </p:spTree>
    <p:extLst>
      <p:ext uri="{BB962C8B-B14F-4D97-AF65-F5344CB8AC3E}">
        <p14:creationId xmlns:p14="http://schemas.microsoft.com/office/powerpoint/2010/main" val="398243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123E3-2DE0-FC11-4252-ABA25080D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A178-9664-AB51-E329-A87CD8B3C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704664"/>
            <a:ext cx="9372600" cy="736092"/>
          </a:xfrm>
        </p:spPr>
        <p:txBody>
          <a:bodyPr>
            <a:noAutofit/>
          </a:bodyPr>
          <a:lstStyle/>
          <a:p>
            <a:r>
              <a:rPr lang="en-IN" dirty="0">
                <a:latin typeface="Bahnschrift Condensed" panose="020B0502040204020203" pitchFamily="34" charset="0"/>
              </a:rPr>
              <a:t>Customer Impact Analysis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622AFFD-D5D6-9564-23F7-2225677A0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700" y="1614492"/>
            <a:ext cx="5731764" cy="3318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en-IN" sz="2400" dirty="0">
                <a:latin typeface="Bahnschrift Light Condensed" panose="020B0502040204020203" pitchFamily="34" charset="0"/>
              </a:rPr>
              <a:t>On-time deliveries → Avg Rating: 4 </a:t>
            </a:r>
          </a:p>
          <a:p>
            <a:pPr>
              <a:buClr>
                <a:schemeClr val="tx1"/>
              </a:buClr>
            </a:pPr>
            <a:r>
              <a:rPr lang="en-IN" sz="2400" dirty="0">
                <a:latin typeface="Bahnschrift Light Condensed" panose="020B0502040204020203" pitchFamily="34" charset="0"/>
              </a:rPr>
              <a:t>Slight delays → Avg Rating: 4 </a:t>
            </a:r>
          </a:p>
          <a:p>
            <a:pPr>
              <a:buClr>
                <a:schemeClr val="tx1"/>
              </a:buClr>
            </a:pPr>
            <a:r>
              <a:rPr lang="en-IN" sz="2400" dirty="0">
                <a:latin typeface="Bahnschrift Light Condensed" panose="020B0502040204020203" pitchFamily="34" charset="0"/>
              </a:rPr>
              <a:t>Long delays → Avg Rating: 2 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IN" sz="2400" b="1" dirty="0">
                <a:latin typeface="Bahnschrift Light Condensed" panose="020B0502040204020203" pitchFamily="34" charset="0"/>
              </a:rPr>
              <a:t>Key Insight:</a:t>
            </a:r>
            <a:endParaRPr lang="en-IN" sz="2400" dirty="0">
              <a:latin typeface="Bahnschrift Light Condensed" panose="020B0502040204020203" pitchFamily="34" charset="0"/>
            </a:endParaRPr>
          </a:p>
          <a:p>
            <a:pPr>
              <a:buClr>
                <a:schemeClr val="tx1"/>
              </a:buClr>
            </a:pPr>
            <a:r>
              <a:rPr lang="en-IN" sz="2400" dirty="0">
                <a:latin typeface="Bahnschrift Light Condensed" panose="020B0502040204020203" pitchFamily="34" charset="0"/>
              </a:rPr>
              <a:t>Severe delays reduce customer ratings by ~50% </a:t>
            </a:r>
          </a:p>
          <a:p>
            <a:pPr>
              <a:buClr>
                <a:schemeClr val="tx1"/>
              </a:buClr>
            </a:pPr>
            <a:r>
              <a:rPr lang="en-IN" sz="2400" dirty="0">
                <a:latin typeface="Bahnschrift Light Condensed" panose="020B0502040204020203" pitchFamily="34" charset="0"/>
              </a:rPr>
              <a:t>Delivery delay is the primary driver of customer dissatisfaction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85B392-A4AE-4493-3833-B1ADABFCF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49" t="23211" r="34375" b="22612"/>
          <a:stretch>
            <a:fillRect/>
          </a:stretch>
        </p:blipFill>
        <p:spPr>
          <a:xfrm>
            <a:off x="7366000" y="1614492"/>
            <a:ext cx="3416300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25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73895-5630-8D67-3E62-B51357C79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189EC7-29BF-B413-7B19-9103F0DFD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7" t="27660" r="71066" b="28576"/>
          <a:stretch>
            <a:fillRect/>
          </a:stretch>
        </p:blipFill>
        <p:spPr>
          <a:xfrm>
            <a:off x="6983476" y="1375956"/>
            <a:ext cx="3798824" cy="4542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5C9F9C-3FE8-2F5A-60BC-48A7E6DE6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390903"/>
            <a:ext cx="9372600" cy="736092"/>
          </a:xfrm>
        </p:spPr>
        <p:txBody>
          <a:bodyPr>
            <a:noAutofit/>
          </a:bodyPr>
          <a:lstStyle/>
          <a:p>
            <a:r>
              <a:rPr lang="en-IN" dirty="0">
                <a:latin typeface="Bahnschrift Condensed" panose="020B0502040204020203" pitchFamily="34" charset="0"/>
              </a:rPr>
              <a:t>Root Cause – Weather Impact &amp; Distance Impact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83B9D57-F272-270F-1472-41CB29800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700" y="1375956"/>
            <a:ext cx="4682744" cy="3190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n-US" sz="2400" dirty="0">
                <a:latin typeface="Bahnschrift Light Condensed" panose="020B0502040204020203" pitchFamily="34" charset="0"/>
              </a:rPr>
              <a:t>Clear weather → 29.5 min delay </a:t>
            </a:r>
          </a:p>
          <a:p>
            <a:pPr>
              <a:buClrTx/>
            </a:pPr>
            <a:r>
              <a:rPr lang="en-US" sz="2400" dirty="0">
                <a:latin typeface="Bahnschrift Light Condensed" panose="020B0502040204020203" pitchFamily="34" charset="0"/>
              </a:rPr>
              <a:t>Rain → 43.2 min delay </a:t>
            </a:r>
          </a:p>
          <a:p>
            <a:pPr>
              <a:buClrTx/>
            </a:pPr>
            <a:r>
              <a:rPr lang="en-US" sz="2400" dirty="0">
                <a:latin typeface="Bahnschrift Light Condensed" panose="020B0502040204020203" pitchFamily="34" charset="0"/>
              </a:rPr>
              <a:t>Traffic → 32 min delay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2400" dirty="0">
                <a:latin typeface="Bahnschrift Light Condensed" panose="020B0502040204020203" pitchFamily="34" charset="0"/>
              </a:rPr>
              <a:t> </a:t>
            </a:r>
            <a:endParaRPr lang="en-US" altLang="en-US" sz="2400" dirty="0">
              <a:solidFill>
                <a:schemeClr val="tx1"/>
              </a:solidFill>
              <a:latin typeface="Bahnschrift Light Condensed" panose="020B0502040204020203" pitchFamily="34" charset="0"/>
            </a:endParaRPr>
          </a:p>
          <a:p>
            <a:pPr marL="0" indent="0">
              <a:buClrTx/>
              <a:buNone/>
            </a:pPr>
            <a:r>
              <a:rPr lang="en-US" sz="2400" b="1" dirty="0">
                <a:latin typeface="Bahnschrift Light Condensed" panose="020B0502040204020203" pitchFamily="34" charset="0"/>
              </a:rPr>
              <a:t>Key Insight:</a:t>
            </a:r>
            <a:endParaRPr lang="en-US" sz="2400" dirty="0">
              <a:latin typeface="Bahnschrift Light Condensed" panose="020B0502040204020203" pitchFamily="34" charset="0"/>
            </a:endParaRPr>
          </a:p>
          <a:p>
            <a:pPr>
              <a:buClrTx/>
            </a:pPr>
            <a:r>
              <a:rPr lang="en-US" sz="2400" dirty="0">
                <a:latin typeface="Bahnschrift Light Condensed" panose="020B0502040204020203" pitchFamily="34" charset="0"/>
              </a:rPr>
              <a:t>Rain increases delays by ~45%, making it the most critical external factor</a:t>
            </a:r>
          </a:p>
        </p:txBody>
      </p:sp>
    </p:spTree>
    <p:extLst>
      <p:ext uri="{BB962C8B-B14F-4D97-AF65-F5344CB8AC3E}">
        <p14:creationId xmlns:p14="http://schemas.microsoft.com/office/powerpoint/2010/main" val="1330251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6669D-22A0-A936-3782-04EF46C73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997AE9-CFC8-393C-13FD-E7A0054DB6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3" t="22842" r="35166" b="22587"/>
          <a:stretch>
            <a:fillRect/>
          </a:stretch>
        </p:blipFill>
        <p:spPr>
          <a:xfrm>
            <a:off x="5961632" y="1243876"/>
            <a:ext cx="4820668" cy="41046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9564EB-302E-5AB9-B155-9E22BB725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390903"/>
            <a:ext cx="9372600" cy="736092"/>
          </a:xfrm>
        </p:spPr>
        <p:txBody>
          <a:bodyPr>
            <a:noAutofit/>
          </a:bodyPr>
          <a:lstStyle/>
          <a:p>
            <a:r>
              <a:rPr lang="en-IN" dirty="0">
                <a:latin typeface="Bahnschrift Condensed" panose="020B0502040204020203" pitchFamily="34" charset="0"/>
              </a:rPr>
              <a:t>Root Cause – Weather Impact &amp; Distance Impact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0A8EC05-689F-AA3F-8916-A1B8DA7CE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700" y="1243876"/>
            <a:ext cx="4551932" cy="29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Majority of deliveries fall in medium to long distance categories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Long-distance deliveries show higher delays </a:t>
            </a:r>
            <a:endParaRPr lang="en-US" sz="2400" dirty="0">
              <a:latin typeface="Bahnschrift Light Condensed" panose="020B0502040204020203" pitchFamily="34" charset="0"/>
            </a:endParaRPr>
          </a:p>
          <a:p>
            <a:pPr marL="0" indent="0">
              <a:buClrTx/>
              <a:buNone/>
            </a:pPr>
            <a:r>
              <a:rPr lang="en-US" sz="2400" b="1" dirty="0">
                <a:latin typeface="Bahnschrift Light Condensed" panose="020B0502040204020203" pitchFamily="34" charset="0"/>
              </a:rPr>
              <a:t>Key Insight:</a:t>
            </a:r>
            <a:endParaRPr lang="en-US" sz="2400" dirty="0">
              <a:latin typeface="Bahnschrift Light Condensed" panose="020B0502040204020203" pitchFamily="34" charset="0"/>
            </a:endParaRPr>
          </a:p>
          <a:p>
            <a:pPr>
              <a:buClrTx/>
            </a:pPr>
            <a:r>
              <a:rPr lang="en-US" sz="2400" dirty="0">
                <a:latin typeface="Bahnschrift Light Condensed" panose="020B0502040204020203" pitchFamily="34" charset="0"/>
              </a:rPr>
              <a:t>Delivery delays increase significantly as distance increases</a:t>
            </a:r>
          </a:p>
        </p:txBody>
      </p:sp>
    </p:spTree>
    <p:extLst>
      <p:ext uri="{BB962C8B-B14F-4D97-AF65-F5344CB8AC3E}">
        <p14:creationId xmlns:p14="http://schemas.microsoft.com/office/powerpoint/2010/main" val="2743654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00A49-D8F5-3CCE-1FE8-B1288D2B2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46A8-3986-1913-C69D-5815DCDB0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359224"/>
            <a:ext cx="9372600" cy="736092"/>
          </a:xfrm>
        </p:spPr>
        <p:txBody>
          <a:bodyPr>
            <a:noAutofit/>
          </a:bodyPr>
          <a:lstStyle/>
          <a:p>
            <a:r>
              <a:rPr lang="en-IN" dirty="0">
                <a:latin typeface="Bahnschrift Condensed" panose="020B0502040204020203" pitchFamily="34" charset="0"/>
              </a:rPr>
              <a:t>Root Cause – Vehicle Inefficiency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4DAFD0D-23F8-769F-CFF6-4A05077D7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5372" y="1158239"/>
            <a:ext cx="3848608" cy="2821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n-IN" sz="2400" dirty="0">
                <a:latin typeface="Bahnschrift Light Condensed" panose="020B0502040204020203" pitchFamily="34" charset="0"/>
              </a:rPr>
              <a:t>Bike → 32.5 min delay </a:t>
            </a:r>
          </a:p>
          <a:p>
            <a:pPr>
              <a:buClrTx/>
            </a:pPr>
            <a:r>
              <a:rPr lang="en-IN" sz="2400" dirty="0">
                <a:latin typeface="Bahnschrift Light Condensed" panose="020B0502040204020203" pitchFamily="34" charset="0"/>
              </a:rPr>
              <a:t>Cycle → 34.34 min delay </a:t>
            </a:r>
          </a:p>
          <a:p>
            <a:pPr>
              <a:buClrTx/>
            </a:pPr>
            <a:r>
              <a:rPr lang="en-IN" sz="2400" dirty="0">
                <a:latin typeface="Bahnschrift Light Condensed" panose="020B0502040204020203" pitchFamily="34" charset="0"/>
              </a:rPr>
              <a:t>EV Scooter → 44.25 min delay </a:t>
            </a:r>
          </a:p>
          <a:p>
            <a:pPr marL="0" indent="0">
              <a:buClrTx/>
              <a:buNone/>
            </a:pPr>
            <a:r>
              <a:rPr lang="en-IN" sz="2400" b="1" dirty="0">
                <a:latin typeface="Bahnschrift Light Condensed" panose="020B0502040204020203" pitchFamily="34" charset="0"/>
              </a:rPr>
              <a:t>Key Insight:</a:t>
            </a:r>
            <a:endParaRPr lang="en-IN" sz="2400" dirty="0">
              <a:latin typeface="Bahnschrift Light Condensed" panose="020B0502040204020203" pitchFamily="34" charset="0"/>
            </a:endParaRPr>
          </a:p>
          <a:p>
            <a:pPr>
              <a:buClrTx/>
            </a:pPr>
            <a:r>
              <a:rPr lang="en-IN" sz="2400" dirty="0">
                <a:latin typeface="Bahnschrift Light Condensed" panose="020B0502040204020203" pitchFamily="34" charset="0"/>
              </a:rPr>
              <a:t>EV scooters have the highest delay despite higher costs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D0D4FB-08E7-0317-152A-1F3E29F0D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6" t="22819" r="61266" b="27369"/>
          <a:stretch>
            <a:fillRect/>
          </a:stretch>
        </p:blipFill>
        <p:spPr>
          <a:xfrm>
            <a:off x="1409700" y="1158239"/>
            <a:ext cx="4876800" cy="454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7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2DCA7-990D-9925-9B61-68B7667E6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95839B-9DAF-4D5F-A91A-93F05B0CD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" t="21009" r="36083" b="21186"/>
          <a:stretch>
            <a:fillRect/>
          </a:stretch>
        </p:blipFill>
        <p:spPr>
          <a:xfrm>
            <a:off x="507999" y="1649025"/>
            <a:ext cx="7765863" cy="44825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042A13-F0D2-2B30-0DCB-4CC38B668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704664"/>
            <a:ext cx="9372600" cy="736092"/>
          </a:xfrm>
        </p:spPr>
        <p:txBody>
          <a:bodyPr>
            <a:noAutofit/>
          </a:bodyPr>
          <a:lstStyle/>
          <a:p>
            <a:r>
              <a:rPr lang="en-IN" dirty="0">
                <a:latin typeface="Bahnschrift Condensed" panose="020B0502040204020203" pitchFamily="34" charset="0"/>
              </a:rPr>
              <a:t>Cost &amp; Operational Insights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88FEF15-9E20-0479-AD24-F5D23CF1D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1142" y="1649025"/>
            <a:ext cx="3786058" cy="3559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n-US" sz="2400" dirty="0">
                <a:latin typeface="Bahnschrift Light Condensed" panose="020B0502040204020203" pitchFamily="34" charset="0"/>
              </a:rPr>
              <a:t>Average Cost per km: ₹13.48 </a:t>
            </a:r>
          </a:p>
          <a:p>
            <a:pPr>
              <a:buClrTx/>
            </a:pPr>
            <a:r>
              <a:rPr lang="en-US" sz="2400" dirty="0">
                <a:latin typeface="Bahnschrift Light Condensed" panose="020B0502040204020203" pitchFamily="34" charset="0"/>
              </a:rPr>
              <a:t>EV scooters have the highest cost and lowest efficiency </a:t>
            </a:r>
          </a:p>
          <a:p>
            <a:pPr>
              <a:buClrTx/>
            </a:pPr>
            <a:r>
              <a:rPr lang="en-US" sz="2400" dirty="0">
                <a:latin typeface="Bahnschrift Light Condensed" panose="020B0502040204020203" pitchFamily="34" charset="0"/>
              </a:rPr>
              <a:t>Delivery inefficiencies increase operational costs </a:t>
            </a:r>
          </a:p>
          <a:p>
            <a:pPr marL="0" indent="0">
              <a:buClrTx/>
              <a:buNone/>
            </a:pPr>
            <a:r>
              <a:rPr lang="en-US" sz="2400" b="1" dirty="0">
                <a:latin typeface="Bahnschrift Light Condensed" panose="020B0502040204020203" pitchFamily="34" charset="0"/>
              </a:rPr>
              <a:t>Key Insight:</a:t>
            </a:r>
            <a:endParaRPr lang="en-US" sz="2400" dirty="0">
              <a:latin typeface="Bahnschrift Light Condensed" panose="020B0502040204020203" pitchFamily="34" charset="0"/>
            </a:endParaRPr>
          </a:p>
          <a:p>
            <a:pPr>
              <a:buClrTx/>
            </a:pPr>
            <a:r>
              <a:rPr lang="en-US" sz="2400" dirty="0">
                <a:latin typeface="Bahnschrift Light Condensed" panose="020B0502040204020203" pitchFamily="34" charset="0"/>
              </a:rPr>
              <a:t>The most expensive vehicle is also the least efficient</a:t>
            </a:r>
          </a:p>
        </p:txBody>
      </p:sp>
    </p:spTree>
    <p:extLst>
      <p:ext uri="{BB962C8B-B14F-4D97-AF65-F5344CB8AC3E}">
        <p14:creationId xmlns:p14="http://schemas.microsoft.com/office/powerpoint/2010/main" val="914071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F0857-D8C2-B6B6-AAF4-BFC4CA88B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879E-B190-B26F-23C6-BD04003B4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140" y="349064"/>
            <a:ext cx="9372600" cy="736092"/>
          </a:xfrm>
        </p:spPr>
        <p:txBody>
          <a:bodyPr>
            <a:noAutofit/>
          </a:bodyPr>
          <a:lstStyle/>
          <a:p>
            <a:r>
              <a:rPr lang="en-IN" dirty="0">
                <a:latin typeface="Bahnschrift Condensed" panose="020B0502040204020203" pitchFamily="34" charset="0"/>
              </a:rPr>
              <a:t>Strategic Recommendations &amp; Conclusion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5F9D758-F843-D8A8-BC97-9433F61CE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" y="1085156"/>
            <a:ext cx="9372600" cy="5504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None/>
            </a:pPr>
            <a:r>
              <a:rPr lang="en-US" sz="2000" b="1" dirty="0">
                <a:latin typeface="Bahnschrift Light Condensed" panose="020B0502040204020203" pitchFamily="34" charset="0"/>
              </a:rPr>
              <a:t>Operational Optimization</a:t>
            </a:r>
          </a:p>
          <a:p>
            <a:pPr>
              <a:buClr>
                <a:schemeClr val="tx1"/>
              </a:buClr>
            </a:pPr>
            <a:r>
              <a:rPr lang="en-US" sz="2000" dirty="0">
                <a:latin typeface="Bahnschrift Light Condensed" panose="020B0502040204020203" pitchFamily="34" charset="0"/>
              </a:rPr>
              <a:t>Allocate vehicles based on distance and efficiency 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000" b="1" dirty="0">
                <a:latin typeface="Bahnschrift Light Condensed" panose="020B0502040204020203" pitchFamily="34" charset="0"/>
              </a:rPr>
              <a:t> ETA System Improvement</a:t>
            </a:r>
          </a:p>
          <a:p>
            <a:pPr>
              <a:buClr>
                <a:schemeClr val="tx1"/>
              </a:buClr>
            </a:pPr>
            <a:r>
              <a:rPr lang="en-US" sz="2000" dirty="0">
                <a:latin typeface="Bahnschrift Light Condensed" panose="020B0502040204020203" pitchFamily="34" charset="0"/>
              </a:rPr>
              <a:t>Implement dynamic ETA based on weather and distance 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000" b="1" dirty="0">
                <a:latin typeface="Bahnschrift Light Condensed" panose="020B0502040204020203" pitchFamily="34" charset="0"/>
              </a:rPr>
              <a:t> Weather-Based Adjustments</a:t>
            </a:r>
          </a:p>
          <a:p>
            <a:pPr>
              <a:buClr>
                <a:schemeClr val="tx1"/>
              </a:buClr>
            </a:pPr>
            <a:r>
              <a:rPr lang="en-US" sz="2000" dirty="0">
                <a:latin typeface="Bahnschrift Light Condensed" panose="020B0502040204020203" pitchFamily="34" charset="0"/>
              </a:rPr>
              <a:t>Add buffer time and increase fleet during adverse conditions 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000" b="1" dirty="0">
                <a:latin typeface="Bahnschrift Light Condensed" panose="020B0502040204020203" pitchFamily="34" charset="0"/>
              </a:rPr>
              <a:t> Customer Retention</a:t>
            </a:r>
          </a:p>
          <a:p>
            <a:pPr>
              <a:buClr>
                <a:schemeClr val="tx1"/>
              </a:buClr>
            </a:pPr>
            <a:r>
              <a:rPr lang="en-US" sz="2000" dirty="0">
                <a:latin typeface="Bahnschrift Light Condensed" panose="020B0502040204020203" pitchFamily="34" charset="0"/>
              </a:rPr>
              <a:t>Proactive delay communication and compensation</a:t>
            </a:r>
          </a:p>
          <a:p>
            <a:pPr marL="0" indent="0">
              <a:buNone/>
            </a:pPr>
            <a:r>
              <a:rPr lang="en-US" sz="2000" b="1" dirty="0">
                <a:latin typeface="Bahnschrift Light Condensed" panose="020B0502040204020203" pitchFamily="34" charset="0"/>
              </a:rPr>
              <a:t>Final Conclusion:</a:t>
            </a:r>
            <a:endParaRPr lang="en-US" sz="2000" dirty="0">
              <a:latin typeface="Bahnschrift Light Condensed" panose="020B0502040204020203" pitchFamily="34" charset="0"/>
            </a:endParaRPr>
          </a:p>
          <a:p>
            <a:pPr>
              <a:buClrTx/>
            </a:pPr>
            <a:r>
              <a:rPr lang="en-US" sz="2000" dirty="0">
                <a:latin typeface="Bahnschrift Light Condensed" panose="020B0502040204020203" pitchFamily="34" charset="0"/>
              </a:rPr>
              <a:t>Delivery inefficiencies are driven by systemic operational issues </a:t>
            </a:r>
          </a:p>
          <a:p>
            <a:pPr>
              <a:buClrTx/>
            </a:pPr>
            <a:r>
              <a:rPr lang="en-US" sz="2000" dirty="0">
                <a:latin typeface="Bahnschrift Light Condensed" panose="020B0502040204020203" pitchFamily="34" charset="0"/>
              </a:rPr>
              <a:t>Optimizing fleet allocation and improving ETA accuracy can significantly reduce delays, lower costs, and improve customer satisfaction</a:t>
            </a:r>
          </a:p>
          <a:p>
            <a:pPr marL="0" indent="0">
              <a:buClr>
                <a:schemeClr val="tx1"/>
              </a:buClr>
              <a:buNone/>
            </a:pPr>
            <a:endParaRPr lang="en-US" sz="20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450151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88</TotalTime>
  <Words>436</Words>
  <Application>Microsoft Office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Bahnschrift Condensed</vt:lpstr>
      <vt:lpstr>Bahnschrift Light Condensed</vt:lpstr>
      <vt:lpstr>Corbel</vt:lpstr>
      <vt:lpstr>Basis</vt:lpstr>
      <vt:lpstr>Optimizing Delivery Efficiency &amp; Reducing Customer Churn</vt:lpstr>
      <vt:lpstr>Executive Summary</vt:lpstr>
      <vt:lpstr>Methodology</vt:lpstr>
      <vt:lpstr>Delivery performance</vt:lpstr>
      <vt:lpstr>ETA Accuracy Analysis</vt:lpstr>
      <vt:lpstr>Customer Impact Analysis</vt:lpstr>
      <vt:lpstr>Root Cause – Weather Impact &amp; Distance Impact</vt:lpstr>
      <vt:lpstr>Root Cause – Weather Impact &amp; Distance Impact</vt:lpstr>
      <vt:lpstr>Root Cause – Vehicle Inefficiency</vt:lpstr>
      <vt:lpstr>Cost &amp; Operational Insights</vt:lpstr>
      <vt:lpstr>Strategic Recommendations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SUPRITH S</dc:creator>
  <cp:lastModifiedBy>SUPRITH S</cp:lastModifiedBy>
  <cp:revision>1</cp:revision>
  <dcterms:created xsi:type="dcterms:W3CDTF">2026-03-22T04:59:48Z</dcterms:created>
  <dcterms:modified xsi:type="dcterms:W3CDTF">2026-03-22T06:28:10Z</dcterms:modified>
</cp:coreProperties>
</file>